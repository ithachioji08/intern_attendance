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Amatic SC"/>
      <p:regular r:id="rId21"/>
      <p:bold r:id="rId22"/>
    </p:embeddedFont>
    <p:embeddedFont>
      <p:font typeface="Source Code Pr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B3866E4-0608-4899-9F78-E261D9FD9FA6}">
  <a:tblStyle styleId="{FB3866E4-0608-4899-9F78-E261D9FD9FA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AmaticSC-bold.fntdata"/><Relationship Id="rId21" Type="http://schemas.openxmlformats.org/officeDocument/2006/relationships/font" Target="fonts/AmaticSC-regular.fntdata"/><Relationship Id="rId24" Type="http://schemas.openxmlformats.org/officeDocument/2006/relationships/font" Target="fonts/SourceCodePro-bold.fntdata"/><Relationship Id="rId23" Type="http://schemas.openxmlformats.org/officeDocument/2006/relationships/font" Target="fonts/SourceCodePr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SourceCodePro-boldItalic.fntdata"/><Relationship Id="rId25" Type="http://schemas.openxmlformats.org/officeDocument/2006/relationships/font" Target="fonts/SourceCodePr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dea128f87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dea128f87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d5fd2bd831_0_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d5fd2bd831_0_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dea128f872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dea128f872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dea128f87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dea128f87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dea128f872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dea128f872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dea128f872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dea128f872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dea128f872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dea128f872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ea128f872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dea128f872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dea128f872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dea128f872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dea128f872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dea128f872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dea128f872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dea128f872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dea128f872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dea128f872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dea128f872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dea128f872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342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
        <p:nvSpPr>
          <p:cNvPr id="12" name="Google Shape;12;p2"/>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1"/>
              </a:buClr>
              <a:buSzPts val="2100"/>
              <a:buNone/>
              <a:defRPr b="1" sz="2100">
                <a:solidFill>
                  <a:schemeClr val="accent1"/>
                </a:solidFill>
              </a:defRPr>
            </a:lvl1pPr>
            <a:lvl2pPr lvl="1" algn="ctr">
              <a:lnSpc>
                <a:spcPct val="100000"/>
              </a:lnSpc>
              <a:spcBef>
                <a:spcPts val="0"/>
              </a:spcBef>
              <a:spcAft>
                <a:spcPts val="0"/>
              </a:spcAft>
              <a:buClr>
                <a:schemeClr val="accent1"/>
              </a:buClr>
              <a:buSzPts val="2100"/>
              <a:buNone/>
              <a:defRPr b="1" sz="2100">
                <a:solidFill>
                  <a:schemeClr val="accent1"/>
                </a:solidFill>
              </a:defRPr>
            </a:lvl2pPr>
            <a:lvl3pPr lvl="2" algn="ctr">
              <a:lnSpc>
                <a:spcPct val="100000"/>
              </a:lnSpc>
              <a:spcBef>
                <a:spcPts val="0"/>
              </a:spcBef>
              <a:spcAft>
                <a:spcPts val="0"/>
              </a:spcAft>
              <a:buClr>
                <a:schemeClr val="accent1"/>
              </a:buClr>
              <a:buSzPts val="2100"/>
              <a:buNone/>
              <a:defRPr b="1" sz="2100">
                <a:solidFill>
                  <a:schemeClr val="accent1"/>
                </a:solidFill>
              </a:defRPr>
            </a:lvl3pPr>
            <a:lvl4pPr lvl="3" algn="ctr">
              <a:lnSpc>
                <a:spcPct val="100000"/>
              </a:lnSpc>
              <a:spcBef>
                <a:spcPts val="0"/>
              </a:spcBef>
              <a:spcAft>
                <a:spcPts val="0"/>
              </a:spcAft>
              <a:buClr>
                <a:schemeClr val="accent1"/>
              </a:buClr>
              <a:buSzPts val="2100"/>
              <a:buNone/>
              <a:defRPr b="1" sz="2100">
                <a:solidFill>
                  <a:schemeClr val="accent1"/>
                </a:solidFill>
              </a:defRPr>
            </a:lvl4pPr>
            <a:lvl5pPr lvl="4" algn="ctr">
              <a:lnSpc>
                <a:spcPct val="100000"/>
              </a:lnSpc>
              <a:spcBef>
                <a:spcPts val="0"/>
              </a:spcBef>
              <a:spcAft>
                <a:spcPts val="0"/>
              </a:spcAft>
              <a:buClr>
                <a:schemeClr val="accent1"/>
              </a:buClr>
              <a:buSzPts val="2100"/>
              <a:buNone/>
              <a:defRPr b="1" sz="2100">
                <a:solidFill>
                  <a:schemeClr val="accent1"/>
                </a:solidFill>
              </a:defRPr>
            </a:lvl5pPr>
            <a:lvl6pPr lvl="5" algn="ctr">
              <a:lnSpc>
                <a:spcPct val="100000"/>
              </a:lnSpc>
              <a:spcBef>
                <a:spcPts val="0"/>
              </a:spcBef>
              <a:spcAft>
                <a:spcPts val="0"/>
              </a:spcAft>
              <a:buClr>
                <a:schemeClr val="accent1"/>
              </a:buClr>
              <a:buSzPts val="2100"/>
              <a:buNone/>
              <a:defRPr b="1" sz="2100">
                <a:solidFill>
                  <a:schemeClr val="accent1"/>
                </a:solidFill>
              </a:defRPr>
            </a:lvl6pPr>
            <a:lvl7pPr lvl="6" algn="ctr">
              <a:lnSpc>
                <a:spcPct val="100000"/>
              </a:lnSpc>
              <a:spcBef>
                <a:spcPts val="0"/>
              </a:spcBef>
              <a:spcAft>
                <a:spcPts val="0"/>
              </a:spcAft>
              <a:buClr>
                <a:schemeClr val="accent1"/>
              </a:buClr>
              <a:buSzPts val="2100"/>
              <a:buNone/>
              <a:defRPr b="1" sz="2100">
                <a:solidFill>
                  <a:schemeClr val="accent1"/>
                </a:solidFill>
              </a:defRPr>
            </a:lvl7pPr>
            <a:lvl8pPr lvl="7" algn="ctr">
              <a:lnSpc>
                <a:spcPct val="100000"/>
              </a:lnSpc>
              <a:spcBef>
                <a:spcPts val="0"/>
              </a:spcBef>
              <a:spcAft>
                <a:spcPts val="0"/>
              </a:spcAft>
              <a:buClr>
                <a:schemeClr val="accent1"/>
              </a:buClr>
              <a:buSzPts val="2100"/>
              <a:buNone/>
              <a:defRPr b="1" sz="2100">
                <a:solidFill>
                  <a:schemeClr val="accent1"/>
                </a:solidFill>
              </a:defRPr>
            </a:lvl8pPr>
            <a:lvl9pPr lvl="8" algn="ctr">
              <a:lnSpc>
                <a:spcPct val="100000"/>
              </a:lnSpc>
              <a:spcBef>
                <a:spcPts val="0"/>
              </a:spcBef>
              <a:spcAft>
                <a:spcPts val="0"/>
              </a:spcAft>
              <a:buClr>
                <a:schemeClr val="accent1"/>
              </a:buClr>
              <a:buSzPts val="2100"/>
              <a:buNone/>
              <a:defRPr b="1" sz="2100">
                <a:solidFill>
                  <a:schemeClr val="accen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2802750" y="802500"/>
            <a:ext cx="3538500" cy="35385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19" name="Google Shape;19;p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5"/>
          <p:cNvSpPr txBox="1"/>
          <p:nvPr>
            <p:ph idx="1" type="body"/>
          </p:nvPr>
        </p:nvSpPr>
        <p:spPr>
          <a:xfrm>
            <a:off x="3117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04800" y="309350"/>
            <a:ext cx="8537700" cy="7482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28575">
            <a:solidFill>
              <a:schemeClr val="lt1"/>
            </a:solidFill>
            <a:prstDash val="solid"/>
            <a:round/>
            <a:headEnd len="sm" w="sm" type="none"/>
            <a:tailEnd len="sm" w="sm" type="none"/>
          </a:ln>
        </p:spPr>
      </p:cxnSp>
      <p:sp>
        <p:nvSpPr>
          <p:cNvPr id="39" name="Google Shape;39;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40" name="Google Shape;40;p9"/>
          <p:cNvSpPr txBox="1"/>
          <p:nvPr>
            <p:ph idx="1" type="subTitle"/>
          </p:nvPr>
        </p:nvSpPr>
        <p:spPr>
          <a:xfrm>
            <a:off x="265500" y="2845223"/>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highlight>
                  <a:schemeClr val="lt1"/>
                </a:highlight>
              </a:defRPr>
            </a:lvl1pPr>
            <a:lvl2pPr indent="-317500" lvl="1" marL="914400">
              <a:spcBef>
                <a:spcPts val="0"/>
              </a:spcBef>
              <a:spcAft>
                <a:spcPts val="0"/>
              </a:spcAft>
              <a:buClr>
                <a:schemeClr val="accent1"/>
              </a:buClr>
              <a:buSzPts val="1400"/>
              <a:buChar char="○"/>
              <a:defRPr>
                <a:solidFill>
                  <a:schemeClr val="accent1"/>
                </a:solidFill>
                <a:highlight>
                  <a:schemeClr val="lt1"/>
                </a:highlight>
              </a:defRPr>
            </a:lvl2pPr>
            <a:lvl3pPr indent="-317500" lvl="2" marL="1371600">
              <a:spcBef>
                <a:spcPts val="0"/>
              </a:spcBef>
              <a:spcAft>
                <a:spcPts val="0"/>
              </a:spcAft>
              <a:buClr>
                <a:schemeClr val="accent1"/>
              </a:buClr>
              <a:buSzPts val="1400"/>
              <a:buChar char="■"/>
              <a:defRPr>
                <a:solidFill>
                  <a:schemeClr val="accent1"/>
                </a:solidFill>
                <a:highlight>
                  <a:schemeClr val="lt1"/>
                </a:highlight>
              </a:defRPr>
            </a:lvl3pPr>
            <a:lvl4pPr indent="-317500" lvl="3" marL="1828800">
              <a:spcBef>
                <a:spcPts val="0"/>
              </a:spcBef>
              <a:spcAft>
                <a:spcPts val="0"/>
              </a:spcAft>
              <a:buClr>
                <a:schemeClr val="accent1"/>
              </a:buClr>
              <a:buSzPts val="1400"/>
              <a:buChar char="●"/>
              <a:defRPr>
                <a:solidFill>
                  <a:schemeClr val="accent1"/>
                </a:solidFill>
                <a:highlight>
                  <a:schemeClr val="lt1"/>
                </a:highlight>
              </a:defRPr>
            </a:lvl4pPr>
            <a:lvl5pPr indent="-317500" lvl="4" marL="2286000">
              <a:spcBef>
                <a:spcPts val="0"/>
              </a:spcBef>
              <a:spcAft>
                <a:spcPts val="0"/>
              </a:spcAft>
              <a:buClr>
                <a:schemeClr val="accent1"/>
              </a:buClr>
              <a:buSzPts val="1400"/>
              <a:buChar char="○"/>
              <a:defRPr>
                <a:solidFill>
                  <a:schemeClr val="accent1"/>
                </a:solidFill>
                <a:highlight>
                  <a:schemeClr val="lt1"/>
                </a:highlight>
              </a:defRPr>
            </a:lvl5pPr>
            <a:lvl6pPr indent="-317500" lvl="5" marL="2743200">
              <a:spcBef>
                <a:spcPts val="0"/>
              </a:spcBef>
              <a:spcAft>
                <a:spcPts val="0"/>
              </a:spcAft>
              <a:buClr>
                <a:schemeClr val="accent1"/>
              </a:buClr>
              <a:buSzPts val="1400"/>
              <a:buChar char="■"/>
              <a:defRPr>
                <a:solidFill>
                  <a:schemeClr val="accent1"/>
                </a:solidFill>
                <a:highlight>
                  <a:schemeClr val="lt1"/>
                </a:highlight>
              </a:defRPr>
            </a:lvl6pPr>
            <a:lvl7pPr indent="-317500" lvl="6" marL="3200400">
              <a:spcBef>
                <a:spcPts val="0"/>
              </a:spcBef>
              <a:spcAft>
                <a:spcPts val="0"/>
              </a:spcAft>
              <a:buClr>
                <a:schemeClr val="accent1"/>
              </a:buClr>
              <a:buSzPts val="1400"/>
              <a:buChar char="●"/>
              <a:defRPr>
                <a:solidFill>
                  <a:schemeClr val="accent1"/>
                </a:solidFill>
                <a:highlight>
                  <a:schemeClr val="lt1"/>
                </a:highlight>
              </a:defRPr>
            </a:lvl7pPr>
            <a:lvl8pPr indent="-317500" lvl="7" marL="3657600">
              <a:spcBef>
                <a:spcPts val="0"/>
              </a:spcBef>
              <a:spcAft>
                <a:spcPts val="0"/>
              </a:spcAft>
              <a:buClr>
                <a:schemeClr val="accent1"/>
              </a:buClr>
              <a:buSzPts val="1400"/>
              <a:buChar char="○"/>
              <a:defRPr>
                <a:solidFill>
                  <a:schemeClr val="accent1"/>
                </a:solidFill>
                <a:highlight>
                  <a:schemeClr val="lt1"/>
                </a:highlight>
              </a:defRPr>
            </a:lvl8pPr>
            <a:lvl9pPr indent="-317500" lvl="8" marL="4114800">
              <a:spcBef>
                <a:spcPts val="0"/>
              </a:spcBef>
              <a:spcAft>
                <a:spcPts val="0"/>
              </a:spcAft>
              <a:buClr>
                <a:schemeClr val="accent1"/>
              </a:buClr>
              <a:buSzPts val="1400"/>
              <a:buChar char="■"/>
              <a:defRPr>
                <a:solidFill>
                  <a:schemeClr val="accent1"/>
                </a:solidFill>
                <a:highlight>
                  <a:schemeClr val="lt1"/>
                </a:highlight>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1"/>
              </a:buClr>
              <a:buSzPts val="2400"/>
              <a:buFont typeface="Amatic SC"/>
              <a:buNone/>
              <a:defRPr b="1" sz="2400">
                <a:solidFill>
                  <a:schemeClr val="accent1"/>
                </a:solidFill>
                <a:latin typeface="Amatic SC"/>
                <a:ea typeface="Amatic SC"/>
                <a:cs typeface="Amatic SC"/>
                <a:sym typeface="Amatic SC"/>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240275"/>
            <a:ext cx="8520600" cy="19818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8" name="Google Shape;48;p11"/>
          <p:cNvSpPr txBox="1"/>
          <p:nvPr>
            <p:ph idx="1" type="body"/>
          </p:nvPr>
        </p:nvSpPr>
        <p:spPr>
          <a:xfrm>
            <a:off x="311700" y="33046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accent1"/>
              </a:buClr>
              <a:buSzPts val="1800"/>
              <a:buChar char="●"/>
              <a:defRPr>
                <a:solidFill>
                  <a:schemeClr val="accent1"/>
                </a:solidFill>
                <a:highlight>
                  <a:schemeClr val="dk1"/>
                </a:highlight>
              </a:defRPr>
            </a:lvl1pPr>
            <a:lvl2pPr indent="-317500" lvl="1" marL="914400" algn="ctr">
              <a:spcBef>
                <a:spcPts val="0"/>
              </a:spcBef>
              <a:spcAft>
                <a:spcPts val="0"/>
              </a:spcAft>
              <a:buClr>
                <a:schemeClr val="accent1"/>
              </a:buClr>
              <a:buSzPts val="1400"/>
              <a:buChar char="○"/>
              <a:defRPr>
                <a:solidFill>
                  <a:schemeClr val="accent1"/>
                </a:solidFill>
                <a:highlight>
                  <a:schemeClr val="dk1"/>
                </a:highlight>
              </a:defRPr>
            </a:lvl2pPr>
            <a:lvl3pPr indent="-317500" lvl="2" marL="1371600" algn="ctr">
              <a:spcBef>
                <a:spcPts val="0"/>
              </a:spcBef>
              <a:spcAft>
                <a:spcPts val="0"/>
              </a:spcAft>
              <a:buClr>
                <a:schemeClr val="accent1"/>
              </a:buClr>
              <a:buSzPts val="1400"/>
              <a:buChar char="■"/>
              <a:defRPr>
                <a:solidFill>
                  <a:schemeClr val="accent1"/>
                </a:solidFill>
                <a:highlight>
                  <a:schemeClr val="dk1"/>
                </a:highlight>
              </a:defRPr>
            </a:lvl3pPr>
            <a:lvl4pPr indent="-317500" lvl="3" marL="1828800" algn="ctr">
              <a:spcBef>
                <a:spcPts val="0"/>
              </a:spcBef>
              <a:spcAft>
                <a:spcPts val="0"/>
              </a:spcAft>
              <a:buClr>
                <a:schemeClr val="accent1"/>
              </a:buClr>
              <a:buSzPts val="1400"/>
              <a:buChar char="●"/>
              <a:defRPr>
                <a:solidFill>
                  <a:schemeClr val="accent1"/>
                </a:solidFill>
                <a:highlight>
                  <a:schemeClr val="dk1"/>
                </a:highlight>
              </a:defRPr>
            </a:lvl4pPr>
            <a:lvl5pPr indent="-317500" lvl="4" marL="2286000" algn="ctr">
              <a:spcBef>
                <a:spcPts val="0"/>
              </a:spcBef>
              <a:spcAft>
                <a:spcPts val="0"/>
              </a:spcAft>
              <a:buClr>
                <a:schemeClr val="accent1"/>
              </a:buClr>
              <a:buSzPts val="1400"/>
              <a:buChar char="○"/>
              <a:defRPr>
                <a:solidFill>
                  <a:schemeClr val="accent1"/>
                </a:solidFill>
                <a:highlight>
                  <a:schemeClr val="dk1"/>
                </a:highlight>
              </a:defRPr>
            </a:lvl5pPr>
            <a:lvl6pPr indent="-317500" lvl="5" marL="2743200" algn="ctr">
              <a:spcBef>
                <a:spcPts val="0"/>
              </a:spcBef>
              <a:spcAft>
                <a:spcPts val="0"/>
              </a:spcAft>
              <a:buClr>
                <a:schemeClr val="accent1"/>
              </a:buClr>
              <a:buSzPts val="1400"/>
              <a:buChar char="■"/>
              <a:defRPr>
                <a:solidFill>
                  <a:schemeClr val="accent1"/>
                </a:solidFill>
                <a:highlight>
                  <a:schemeClr val="dk1"/>
                </a:highlight>
              </a:defRPr>
            </a:lvl6pPr>
            <a:lvl7pPr indent="-317500" lvl="6" marL="3200400" algn="ctr">
              <a:spcBef>
                <a:spcPts val="0"/>
              </a:spcBef>
              <a:spcAft>
                <a:spcPts val="0"/>
              </a:spcAft>
              <a:buClr>
                <a:schemeClr val="accent1"/>
              </a:buClr>
              <a:buSzPts val="1400"/>
              <a:buChar char="●"/>
              <a:defRPr>
                <a:solidFill>
                  <a:schemeClr val="accent1"/>
                </a:solidFill>
                <a:highlight>
                  <a:schemeClr val="dk1"/>
                </a:highlight>
              </a:defRPr>
            </a:lvl7pPr>
            <a:lvl8pPr indent="-317500" lvl="7" marL="3657600" algn="ctr">
              <a:spcBef>
                <a:spcPts val="0"/>
              </a:spcBef>
              <a:spcAft>
                <a:spcPts val="0"/>
              </a:spcAft>
              <a:buClr>
                <a:schemeClr val="accent1"/>
              </a:buClr>
              <a:buSzPts val="1400"/>
              <a:buChar char="○"/>
              <a:defRPr>
                <a:solidFill>
                  <a:schemeClr val="accent1"/>
                </a:solidFill>
                <a:highlight>
                  <a:schemeClr val="dk1"/>
                </a:highlight>
              </a:defRPr>
            </a:lvl8pPr>
            <a:lvl9pPr indent="-317500" lvl="8" marL="4114800" algn="ctr">
              <a:spcBef>
                <a:spcPts val="0"/>
              </a:spcBef>
              <a:spcAft>
                <a:spcPts val="0"/>
              </a:spcAft>
              <a:buClr>
                <a:schemeClr val="accent1"/>
              </a:buClr>
              <a:buSzPts val="1400"/>
              <a:buChar char="■"/>
              <a:defRPr>
                <a:solidFill>
                  <a:schemeClr val="accent1"/>
                </a:solidFill>
                <a:highlight>
                  <a:schemeClr val="dk1"/>
                </a:highlight>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each-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92850"/>
            <a:ext cx="8520600" cy="80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9pPr>
          </a:lstStyle>
          <a:p/>
        </p:txBody>
      </p:sp>
      <p:sp>
        <p:nvSpPr>
          <p:cNvPr id="7" name="Google Shape;7;p1"/>
          <p:cNvSpPr txBox="1"/>
          <p:nvPr>
            <p:ph idx="1" type="body"/>
          </p:nvPr>
        </p:nvSpPr>
        <p:spPr>
          <a:xfrm>
            <a:off x="311700" y="1228675"/>
            <a:ext cx="8520600" cy="334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portfolio02.dc-itex.com/hachioji2/0001/attendance/" TargetMode="Externa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ja" sz="5500"/>
              <a:t>ポートフォリオの</a:t>
            </a:r>
            <a:r>
              <a:rPr lang="ja" sz="3700"/>
              <a:t>（残業申請サイト）</a:t>
            </a:r>
            <a:r>
              <a:rPr lang="ja" sz="5500"/>
              <a:t>のマニュアル</a:t>
            </a:r>
            <a:endParaRPr sz="5500"/>
          </a:p>
        </p:txBody>
      </p:sp>
      <p:sp>
        <p:nvSpPr>
          <p:cNvPr id="57" name="Google Shape;57;p13"/>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サイトのurlとログインIDについて</a:t>
            </a:r>
            <a:endParaRPr/>
          </a:p>
        </p:txBody>
      </p:sp>
      <p:sp>
        <p:nvSpPr>
          <p:cNvPr id="63" name="Google Shape;63;p14"/>
          <p:cNvSpPr txBox="1"/>
          <p:nvPr>
            <p:ph idx="1" type="body"/>
          </p:nvPr>
        </p:nvSpPr>
        <p:spPr>
          <a:xfrm>
            <a:off x="311700" y="1093850"/>
            <a:ext cx="8520600" cy="1831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URL</a:t>
            </a:r>
            <a:r>
              <a:rPr lang="ja"/>
              <a:t>は</a:t>
            </a:r>
            <a:r>
              <a:rPr lang="ja" u="sng">
                <a:solidFill>
                  <a:schemeClr val="hlink"/>
                </a:solidFill>
                <a:hlinkClick r:id="rId3"/>
              </a:rPr>
              <a:t>https://portfolio02.dc-itex.com/hachioji2/0001/attendance/</a:t>
            </a:r>
            <a:endParaRPr/>
          </a:p>
          <a:p>
            <a:pPr indent="0" lvl="0" marL="0" rtl="0" algn="l">
              <a:spcBef>
                <a:spcPts val="1200"/>
              </a:spcBef>
              <a:spcAft>
                <a:spcPts val="0"/>
              </a:spcAft>
              <a:buNone/>
            </a:pPr>
            <a:r>
              <a:rPr lang="ja"/>
              <a:t>初回のログインは下のような画面が表示されるので、</a:t>
            </a:r>
            <a:endParaRPr/>
          </a:p>
          <a:p>
            <a:pPr indent="0" lvl="0" marL="0" rtl="0" algn="l">
              <a:spcBef>
                <a:spcPts val="1200"/>
              </a:spcBef>
              <a:spcAft>
                <a:spcPts val="1200"/>
              </a:spcAft>
              <a:buNone/>
            </a:pPr>
            <a:r>
              <a:rPr lang="ja"/>
              <a:t>ユーザー名：user パスワード:a3Jpyh2X を入力</a:t>
            </a:r>
            <a:endParaRPr/>
          </a:p>
        </p:txBody>
      </p:sp>
      <p:pic>
        <p:nvPicPr>
          <p:cNvPr id="64" name="Google Shape;64;p14" title="スクリーンショット (20).png"/>
          <p:cNvPicPr preferRelativeResize="0"/>
          <p:nvPr/>
        </p:nvPicPr>
        <p:blipFill>
          <a:blip r:embed="rId4">
            <a:alphaModFix/>
          </a:blip>
          <a:stretch>
            <a:fillRect/>
          </a:stretch>
        </p:blipFill>
        <p:spPr>
          <a:xfrm>
            <a:off x="858050" y="3080975"/>
            <a:ext cx="6890289" cy="1699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初期画面</a:t>
            </a:r>
            <a:endParaRPr/>
          </a:p>
        </p:txBody>
      </p:sp>
      <p:sp>
        <p:nvSpPr>
          <p:cNvPr id="70" name="Google Shape;70;p15"/>
          <p:cNvSpPr txBox="1"/>
          <p:nvPr>
            <p:ph idx="1" type="body"/>
          </p:nvPr>
        </p:nvSpPr>
        <p:spPr>
          <a:xfrm>
            <a:off x="4666075" y="1372825"/>
            <a:ext cx="4260300" cy="10635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ja"/>
              <a:t>id</a:t>
            </a:r>
            <a:r>
              <a:rPr lang="ja"/>
              <a:t>とパスワードを入力する一般的な画面。新規登録しない限り現在使えるのは以下のもの。</a:t>
            </a:r>
            <a:endParaRPr/>
          </a:p>
        </p:txBody>
      </p:sp>
      <p:pic>
        <p:nvPicPr>
          <p:cNvPr id="71" name="Google Shape;71;p15"/>
          <p:cNvPicPr preferRelativeResize="0"/>
          <p:nvPr/>
        </p:nvPicPr>
        <p:blipFill>
          <a:blip r:embed="rId3">
            <a:alphaModFix/>
          </a:blip>
          <a:stretch>
            <a:fillRect/>
          </a:stretch>
        </p:blipFill>
        <p:spPr>
          <a:xfrm>
            <a:off x="311700" y="1246250"/>
            <a:ext cx="3918538" cy="2106850"/>
          </a:xfrm>
          <a:prstGeom prst="rect">
            <a:avLst/>
          </a:prstGeom>
          <a:noFill/>
          <a:ln>
            <a:noFill/>
          </a:ln>
        </p:spPr>
      </p:pic>
      <p:graphicFrame>
        <p:nvGraphicFramePr>
          <p:cNvPr id="72" name="Google Shape;72;p15"/>
          <p:cNvGraphicFramePr/>
          <p:nvPr/>
        </p:nvGraphicFramePr>
        <p:xfrm>
          <a:off x="3365275" y="2715300"/>
          <a:ext cx="3000000" cy="3000000"/>
        </p:xfrm>
        <a:graphic>
          <a:graphicData uri="http://schemas.openxmlformats.org/drawingml/2006/table">
            <a:tbl>
              <a:tblPr>
                <a:noFill/>
                <a:tableStyleId>{FB3866E4-0608-4899-9F78-E261D9FD9FA6}</a:tableStyleId>
              </a:tblPr>
              <a:tblGrid>
                <a:gridCol w="1390275"/>
                <a:gridCol w="1390275"/>
                <a:gridCol w="1390275"/>
                <a:gridCol w="1390275"/>
              </a:tblGrid>
              <a:tr h="447600">
                <a:tc>
                  <a:txBody>
                    <a:bodyPr/>
                    <a:lstStyle/>
                    <a:p>
                      <a:pPr indent="0" lvl="0" marL="0" rtl="0" algn="l">
                        <a:spcBef>
                          <a:spcPts val="0"/>
                        </a:spcBef>
                        <a:spcAft>
                          <a:spcPts val="0"/>
                        </a:spcAft>
                        <a:buNone/>
                      </a:pPr>
                      <a:r>
                        <a:rPr lang="ja"/>
                        <a:t>id</a:t>
                      </a:r>
                      <a:endParaRPr/>
                    </a:p>
                  </a:txBody>
                  <a:tcPr marT="91425" marB="91425" marR="91425" marL="91425"/>
                </a:tc>
                <a:tc>
                  <a:txBody>
                    <a:bodyPr/>
                    <a:lstStyle/>
                    <a:p>
                      <a:pPr indent="0" lvl="0" marL="0" rtl="0" algn="l">
                        <a:spcBef>
                          <a:spcPts val="0"/>
                        </a:spcBef>
                        <a:spcAft>
                          <a:spcPts val="0"/>
                        </a:spcAft>
                        <a:buNone/>
                      </a:pPr>
                      <a:r>
                        <a:rPr lang="ja"/>
                        <a:t>パスワード</a:t>
                      </a:r>
                      <a:endParaRPr/>
                    </a:p>
                  </a:txBody>
                  <a:tcPr marT="91425" marB="91425" marR="91425" marL="91425"/>
                </a:tc>
                <a:tc>
                  <a:txBody>
                    <a:bodyPr/>
                    <a:lstStyle/>
                    <a:p>
                      <a:pPr indent="0" lvl="0" marL="0" rtl="0" algn="l">
                        <a:spcBef>
                          <a:spcPts val="0"/>
                        </a:spcBef>
                        <a:spcAft>
                          <a:spcPts val="0"/>
                        </a:spcAft>
                        <a:buNone/>
                      </a:pPr>
                      <a:r>
                        <a:rPr lang="ja"/>
                        <a:t>名前</a:t>
                      </a:r>
                      <a:endParaRPr/>
                    </a:p>
                  </a:txBody>
                  <a:tcPr marT="91425" marB="91425" marR="91425" marL="91425"/>
                </a:tc>
                <a:tc>
                  <a:txBody>
                    <a:bodyPr/>
                    <a:lstStyle/>
                    <a:p>
                      <a:pPr indent="0" lvl="0" marL="0" rtl="0" algn="l">
                        <a:spcBef>
                          <a:spcPts val="0"/>
                        </a:spcBef>
                        <a:spcAft>
                          <a:spcPts val="0"/>
                        </a:spcAft>
                        <a:buNone/>
                      </a:pPr>
                      <a:r>
                        <a:rPr lang="ja"/>
                        <a:t>役職</a:t>
                      </a:r>
                      <a:endParaRPr/>
                    </a:p>
                  </a:txBody>
                  <a:tcPr marT="91425" marB="91425" marR="91425" marL="91425"/>
                </a:tc>
              </a:tr>
              <a:tr h="447600">
                <a:tc>
                  <a:txBody>
                    <a:bodyPr/>
                    <a:lstStyle/>
                    <a:p>
                      <a:pPr indent="0" lvl="0" marL="0" rtl="0" algn="l">
                        <a:spcBef>
                          <a:spcPts val="0"/>
                        </a:spcBef>
                        <a:spcAft>
                          <a:spcPts val="0"/>
                        </a:spcAft>
                        <a:buNone/>
                      </a:pPr>
                      <a:r>
                        <a:rPr lang="ja">
                          <a:highlight>
                            <a:schemeClr val="lt1"/>
                          </a:highlight>
                        </a:rPr>
                        <a:t>newstaffA</a:t>
                      </a:r>
                      <a:endParaRPr sz="1800">
                        <a:highlight>
                          <a:schemeClr val="lt1"/>
                        </a:highlight>
                      </a:endParaRPr>
                    </a:p>
                  </a:txBody>
                  <a:tcPr marT="91425" marB="91425" marR="91425" marL="91425"/>
                </a:tc>
                <a:tc>
                  <a:txBody>
                    <a:bodyPr/>
                    <a:lstStyle/>
                    <a:p>
                      <a:pPr indent="0" lvl="0" marL="0" rtl="0" algn="l">
                        <a:spcBef>
                          <a:spcPts val="0"/>
                        </a:spcBef>
                        <a:spcAft>
                          <a:spcPts val="0"/>
                        </a:spcAft>
                        <a:buNone/>
                      </a:pPr>
                      <a:r>
                        <a:rPr lang="ja">
                          <a:highlight>
                            <a:schemeClr val="lt1"/>
                          </a:highlight>
                        </a:rPr>
                        <a:t>newstaffA</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ja"/>
                        <a:t>新スタッフA</a:t>
                      </a:r>
                      <a:endParaRPr/>
                    </a:p>
                  </a:txBody>
                  <a:tcPr marT="91425" marB="91425" marR="91425" marL="91425"/>
                </a:tc>
                <a:tc>
                  <a:txBody>
                    <a:bodyPr/>
                    <a:lstStyle/>
                    <a:p>
                      <a:pPr indent="0" lvl="0" marL="0" rtl="0" algn="l">
                        <a:spcBef>
                          <a:spcPts val="0"/>
                        </a:spcBef>
                        <a:spcAft>
                          <a:spcPts val="0"/>
                        </a:spcAft>
                        <a:buNone/>
                      </a:pPr>
                      <a:r>
                        <a:rPr lang="ja"/>
                        <a:t>社員</a:t>
                      </a:r>
                      <a:endParaRPr/>
                    </a:p>
                  </a:txBody>
                  <a:tcPr marT="91425" marB="91425" marR="91425" marL="91425"/>
                </a:tc>
              </a:tr>
              <a:tr h="447600">
                <a:tc>
                  <a:txBody>
                    <a:bodyPr/>
                    <a:lstStyle/>
                    <a:p>
                      <a:pPr indent="0" lvl="0" marL="0" rtl="0" algn="l">
                        <a:spcBef>
                          <a:spcPts val="0"/>
                        </a:spcBef>
                        <a:spcAft>
                          <a:spcPts val="0"/>
                        </a:spcAft>
                        <a:buNone/>
                      </a:pPr>
                      <a:r>
                        <a:rPr lang="ja"/>
                        <a:t>newdeputyA</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ja"/>
                        <a:t>newdeputyA</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ja"/>
                        <a:t>新次長A</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ja"/>
                        <a:t>次長</a:t>
                      </a:r>
                      <a:endParaRPr/>
                    </a:p>
                  </a:txBody>
                  <a:tcPr marT="91425" marB="91425" marR="91425" marL="91425"/>
                </a:tc>
              </a:tr>
              <a:tr h="447600">
                <a:tc>
                  <a:txBody>
                    <a:bodyPr/>
                    <a:lstStyle/>
                    <a:p>
                      <a:pPr indent="0" lvl="0" marL="0" rtl="0" algn="l">
                        <a:spcBef>
                          <a:spcPts val="0"/>
                        </a:spcBef>
                        <a:spcAft>
                          <a:spcPts val="0"/>
                        </a:spcAft>
                        <a:buNone/>
                      </a:pPr>
                      <a:r>
                        <a:rPr lang="ja"/>
                        <a:t>newmanagerA</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ja"/>
                        <a:t>newdeputyA</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ja"/>
                        <a:t>新課長A</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ja"/>
                        <a:t>課長</a:t>
                      </a:r>
                      <a:endParaRPr/>
                    </a:p>
                  </a:txBody>
                  <a:tcPr marT="91425" marB="91425" marR="91425" marL="91425"/>
                </a:tc>
              </a:tr>
              <a:tr h="447600">
                <a:tc>
                  <a:txBody>
                    <a:bodyPr/>
                    <a:lstStyle/>
                    <a:p>
                      <a:pPr indent="0" lvl="0" marL="0" rtl="0" algn="l">
                        <a:spcBef>
                          <a:spcPts val="0"/>
                        </a:spcBef>
                        <a:spcAft>
                          <a:spcPts val="0"/>
                        </a:spcAft>
                        <a:buNone/>
                      </a:pPr>
                      <a:r>
                        <a:rPr lang="ja"/>
                        <a:t>newdirectorA</a:t>
                      </a:r>
                      <a:endParaRPr/>
                    </a:p>
                  </a:txBody>
                  <a:tcPr marT="91425" marB="91425" marR="91425" marL="91425"/>
                </a:tc>
                <a:tc>
                  <a:txBody>
                    <a:bodyPr/>
                    <a:lstStyle/>
                    <a:p>
                      <a:pPr indent="0" lvl="0" marL="0" rtl="0" algn="l">
                        <a:spcBef>
                          <a:spcPts val="0"/>
                        </a:spcBef>
                        <a:spcAft>
                          <a:spcPts val="0"/>
                        </a:spcAft>
                        <a:buNone/>
                      </a:pPr>
                      <a:r>
                        <a:rPr lang="ja"/>
                        <a:t>newdirectorA</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ja"/>
                        <a:t>新部長A</a:t>
                      </a:r>
                      <a:endParaRPr/>
                    </a:p>
                  </a:txBody>
                  <a:tcPr marT="91425" marB="91425" marR="91425" marL="91425"/>
                </a:tc>
                <a:tc>
                  <a:txBody>
                    <a:bodyPr/>
                    <a:lstStyle/>
                    <a:p>
                      <a:pPr indent="0" lvl="0" marL="0" rtl="0" algn="l">
                        <a:spcBef>
                          <a:spcPts val="0"/>
                        </a:spcBef>
                        <a:spcAft>
                          <a:spcPts val="0"/>
                        </a:spcAft>
                        <a:buNone/>
                      </a:pPr>
                      <a:r>
                        <a:rPr lang="ja"/>
                        <a:t>部長</a:t>
                      </a:r>
                      <a:endParaRPr/>
                    </a:p>
                  </a:txBody>
                  <a:tcPr marT="91425" marB="91425" marR="91425" marL="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pic>
        <p:nvPicPr>
          <p:cNvPr id="77" name="Google Shape;77;p16" title="スクリーンショット (25).png"/>
          <p:cNvPicPr preferRelativeResize="0"/>
          <p:nvPr/>
        </p:nvPicPr>
        <p:blipFill>
          <a:blip r:embed="rId3">
            <a:alphaModFix/>
          </a:blip>
          <a:stretch>
            <a:fillRect/>
          </a:stretch>
        </p:blipFill>
        <p:spPr>
          <a:xfrm>
            <a:off x="846794" y="1228675"/>
            <a:ext cx="2619677" cy="3744850"/>
          </a:xfrm>
          <a:prstGeom prst="rect">
            <a:avLst/>
          </a:prstGeom>
          <a:noFill/>
          <a:ln>
            <a:noFill/>
          </a:ln>
        </p:spPr>
      </p:pic>
      <p:sp>
        <p:nvSpPr>
          <p:cNvPr id="78" name="Google Shape;78;p1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残業申請</a:t>
            </a:r>
            <a:endParaRPr/>
          </a:p>
        </p:txBody>
      </p:sp>
      <p:sp>
        <p:nvSpPr>
          <p:cNvPr id="79" name="Google Shape;79;p16"/>
          <p:cNvSpPr txBox="1"/>
          <p:nvPr>
            <p:ph idx="1" type="body"/>
          </p:nvPr>
        </p:nvSpPr>
        <p:spPr>
          <a:xfrm>
            <a:off x="5100725" y="1228675"/>
            <a:ext cx="37317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　権限が社員でログインすると遷移する画面。</a:t>
            </a:r>
            <a:endParaRPr/>
          </a:p>
          <a:p>
            <a:pPr indent="0" lvl="0" marL="0" rtl="0" algn="l">
              <a:spcBef>
                <a:spcPts val="1200"/>
              </a:spcBef>
              <a:spcAft>
                <a:spcPts val="0"/>
              </a:spcAft>
              <a:buNone/>
            </a:pPr>
            <a:r>
              <a:rPr lang="ja"/>
              <a:t>　必須項目を入力して、表示を押すと確認画面に遷移。</a:t>
            </a:r>
            <a:endParaRPr/>
          </a:p>
          <a:p>
            <a:pPr indent="0" lvl="0" marL="0" rtl="0" algn="l">
              <a:spcBef>
                <a:spcPts val="1200"/>
              </a:spcBef>
              <a:spcAft>
                <a:spcPts val="1200"/>
              </a:spcAft>
              <a:buNone/>
            </a:pPr>
            <a:r>
              <a:rPr lang="ja"/>
              <a:t>　この時、残業開始時間や終了時間が勤務パターンと重なっていると警告が出るので注意。（勤務パターンと始業就業時間については後述）</a:t>
            </a:r>
            <a:endParaRPr/>
          </a:p>
        </p:txBody>
      </p:sp>
      <p:sp>
        <p:nvSpPr>
          <p:cNvPr id="80" name="Google Shape;80;p16"/>
          <p:cNvSpPr/>
          <p:nvPr/>
        </p:nvSpPr>
        <p:spPr>
          <a:xfrm>
            <a:off x="992201" y="3615275"/>
            <a:ext cx="439200" cy="2823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p17" title="スクリーンショット (26).png"/>
          <p:cNvPicPr preferRelativeResize="0"/>
          <p:nvPr/>
        </p:nvPicPr>
        <p:blipFill rotWithShape="1">
          <a:blip r:embed="rId3">
            <a:alphaModFix/>
          </a:blip>
          <a:srcRect b="15264" l="23132" r="21675" t="24903"/>
          <a:stretch/>
        </p:blipFill>
        <p:spPr>
          <a:xfrm>
            <a:off x="173275" y="1308600"/>
            <a:ext cx="5326027" cy="3247576"/>
          </a:xfrm>
          <a:prstGeom prst="rect">
            <a:avLst/>
          </a:prstGeom>
          <a:noFill/>
          <a:ln>
            <a:noFill/>
          </a:ln>
        </p:spPr>
      </p:pic>
      <p:sp>
        <p:nvSpPr>
          <p:cNvPr id="86" name="Google Shape;86;p1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残業申請</a:t>
            </a:r>
            <a:endParaRPr/>
          </a:p>
        </p:txBody>
      </p:sp>
      <p:sp>
        <p:nvSpPr>
          <p:cNvPr id="87" name="Google Shape;87;p17"/>
          <p:cNvSpPr txBox="1"/>
          <p:nvPr>
            <p:ph idx="1" type="body"/>
          </p:nvPr>
        </p:nvSpPr>
        <p:spPr>
          <a:xfrm>
            <a:off x="5931850" y="1228675"/>
            <a:ext cx="2900400" cy="375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　表示ボタンを押したら表示されるモーダル。</a:t>
            </a:r>
            <a:endParaRPr/>
          </a:p>
          <a:p>
            <a:pPr indent="0" lvl="0" marL="0" rtl="0" algn="l">
              <a:spcBef>
                <a:spcPts val="1200"/>
              </a:spcBef>
              <a:spcAft>
                <a:spcPts val="0"/>
              </a:spcAft>
              <a:buNone/>
            </a:pPr>
            <a:r>
              <a:rPr lang="ja"/>
              <a:t>　印刷ボタンを押すと、申請書が印刷および申請される。</a:t>
            </a:r>
            <a:endParaRPr/>
          </a:p>
          <a:p>
            <a:pPr indent="0" lvl="0" marL="0" rtl="0" algn="l">
              <a:spcBef>
                <a:spcPts val="1200"/>
              </a:spcBef>
              <a:spcAft>
                <a:spcPts val="1200"/>
              </a:spcAft>
              <a:buNone/>
            </a:pPr>
            <a:r>
              <a:rPr lang="ja"/>
              <a:t>　</a:t>
            </a:r>
            <a:endParaRPr/>
          </a:p>
        </p:txBody>
      </p:sp>
      <p:sp>
        <p:nvSpPr>
          <p:cNvPr id="88" name="Google Shape;88;p17"/>
          <p:cNvSpPr/>
          <p:nvPr/>
        </p:nvSpPr>
        <p:spPr>
          <a:xfrm>
            <a:off x="2215350" y="3144825"/>
            <a:ext cx="580200" cy="2979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残業申請</a:t>
            </a:r>
            <a:endParaRPr/>
          </a:p>
        </p:txBody>
      </p:sp>
      <p:sp>
        <p:nvSpPr>
          <p:cNvPr id="94" name="Google Shape;94;p18"/>
          <p:cNvSpPr txBox="1"/>
          <p:nvPr>
            <p:ph idx="1" type="body"/>
          </p:nvPr>
        </p:nvSpPr>
        <p:spPr>
          <a:xfrm>
            <a:off x="5916175" y="1228675"/>
            <a:ext cx="29163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印刷プレビュー画面。</a:t>
            </a:r>
            <a:endParaRPr/>
          </a:p>
          <a:p>
            <a:pPr indent="0" lvl="0" marL="0" rtl="0" algn="l">
              <a:spcBef>
                <a:spcPts val="1200"/>
              </a:spcBef>
              <a:spcAft>
                <a:spcPts val="0"/>
              </a:spcAft>
              <a:buNone/>
            </a:pPr>
            <a:r>
              <a:rPr lang="ja"/>
              <a:t>申請書は以下のプレビューの内容で印刷されて、これを上長に届ける設定。</a:t>
            </a:r>
            <a:endParaRPr/>
          </a:p>
          <a:p>
            <a:pPr indent="0" lvl="0" marL="0" rtl="0" algn="l">
              <a:spcBef>
                <a:spcPts val="1200"/>
              </a:spcBef>
              <a:spcAft>
                <a:spcPts val="1200"/>
              </a:spcAft>
              <a:buNone/>
            </a:pPr>
            <a:r>
              <a:t/>
            </a:r>
            <a:endParaRPr/>
          </a:p>
        </p:txBody>
      </p:sp>
      <p:pic>
        <p:nvPicPr>
          <p:cNvPr id="95" name="Google Shape;95;p18" title="スクリーンショット (27).png"/>
          <p:cNvPicPr preferRelativeResize="0"/>
          <p:nvPr/>
        </p:nvPicPr>
        <p:blipFill rotWithShape="1">
          <a:blip r:embed="rId3">
            <a:alphaModFix/>
          </a:blip>
          <a:srcRect b="10090" l="15220" r="14933" t="8278"/>
          <a:stretch/>
        </p:blipFill>
        <p:spPr>
          <a:xfrm>
            <a:off x="311700" y="1610550"/>
            <a:ext cx="5211523" cy="34259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スクリーンショット (28).png"/>
          <p:cNvPicPr preferRelativeResize="0"/>
          <p:nvPr/>
        </p:nvPicPr>
        <p:blipFill rotWithShape="1">
          <a:blip r:embed="rId3">
            <a:alphaModFix/>
          </a:blip>
          <a:srcRect b="15312" l="22073" r="21605" t="23709"/>
          <a:stretch/>
        </p:blipFill>
        <p:spPr>
          <a:xfrm>
            <a:off x="61475" y="1542343"/>
            <a:ext cx="4866754" cy="2964049"/>
          </a:xfrm>
          <a:prstGeom prst="rect">
            <a:avLst/>
          </a:prstGeom>
          <a:noFill/>
          <a:ln>
            <a:noFill/>
          </a:ln>
        </p:spPr>
      </p:pic>
      <p:sp>
        <p:nvSpPr>
          <p:cNvPr id="101" name="Google Shape;101;p1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残業申請</a:t>
            </a:r>
            <a:endParaRPr/>
          </a:p>
        </p:txBody>
      </p:sp>
      <p:sp>
        <p:nvSpPr>
          <p:cNvPr id="102" name="Google Shape;102;p19"/>
          <p:cNvSpPr txBox="1"/>
          <p:nvPr>
            <p:ph idx="1" type="body"/>
          </p:nvPr>
        </p:nvSpPr>
        <p:spPr>
          <a:xfrm>
            <a:off x="4928225" y="1228675"/>
            <a:ext cx="39042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ja"/>
              <a:t>印刷プレビューで印刷しようとキャンセルしようと送信ボタンが押せるようになるので、ここで押さないと電子的に申請したことにならないので注意。</a:t>
            </a:r>
            <a:endParaRPr/>
          </a:p>
        </p:txBody>
      </p:sp>
      <p:sp>
        <p:nvSpPr>
          <p:cNvPr id="103" name="Google Shape;103;p19"/>
          <p:cNvSpPr/>
          <p:nvPr/>
        </p:nvSpPr>
        <p:spPr>
          <a:xfrm>
            <a:off x="2231100" y="3237475"/>
            <a:ext cx="391800" cy="3000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残業報告</a:t>
            </a:r>
            <a:endParaRPr/>
          </a:p>
        </p:txBody>
      </p:sp>
      <p:sp>
        <p:nvSpPr>
          <p:cNvPr id="109" name="Google Shape;109;p20"/>
          <p:cNvSpPr txBox="1"/>
          <p:nvPr>
            <p:ph idx="1" type="body"/>
          </p:nvPr>
        </p:nvSpPr>
        <p:spPr>
          <a:xfrm>
            <a:off x="5175575" y="1228675"/>
            <a:ext cx="3656400" cy="37923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ja"/>
              <a:t>　月末または月初めに提出する設定。</a:t>
            </a:r>
            <a:endParaRPr/>
          </a:p>
          <a:p>
            <a:pPr indent="0" lvl="0" marL="0" rtl="0" algn="l">
              <a:spcBef>
                <a:spcPts val="1200"/>
              </a:spcBef>
              <a:spcAft>
                <a:spcPts val="0"/>
              </a:spcAft>
              <a:buNone/>
            </a:pPr>
            <a:r>
              <a:rPr lang="ja"/>
              <a:t>　</a:t>
            </a:r>
            <a:r>
              <a:rPr lang="ja"/>
              <a:t>githubにある残業報告書をダウンロードする。</a:t>
            </a:r>
            <a:endParaRPr/>
          </a:p>
          <a:p>
            <a:pPr indent="0" lvl="0" marL="0" rtl="0" algn="l">
              <a:spcBef>
                <a:spcPts val="1200"/>
              </a:spcBef>
              <a:spcAft>
                <a:spcPts val="0"/>
              </a:spcAft>
              <a:buNone/>
            </a:pPr>
            <a:r>
              <a:rPr lang="ja"/>
              <a:t>　Q列より右側の月、部署名、指名、勤務パターンを入力。</a:t>
            </a:r>
            <a:endParaRPr/>
          </a:p>
          <a:p>
            <a:pPr indent="0" lvl="0" marL="0" rtl="0" algn="l">
              <a:spcBef>
                <a:spcPts val="1200"/>
              </a:spcBef>
              <a:spcAft>
                <a:spcPts val="0"/>
              </a:spcAft>
              <a:buNone/>
            </a:pPr>
            <a:r>
              <a:rPr lang="ja"/>
              <a:t>　その後、日ごとに残業開始終了時間と理由を入力する。</a:t>
            </a:r>
            <a:endParaRPr/>
          </a:p>
          <a:p>
            <a:pPr indent="0" lvl="0" marL="0" rtl="0" algn="l">
              <a:spcBef>
                <a:spcPts val="1200"/>
              </a:spcBef>
              <a:spcAft>
                <a:spcPts val="1200"/>
              </a:spcAft>
              <a:buNone/>
            </a:pPr>
            <a:r>
              <a:rPr lang="ja"/>
              <a:t>　</a:t>
            </a:r>
            <a:r>
              <a:rPr lang="ja"/>
              <a:t>　　　で囲われた所以外入力しないこと</a:t>
            </a:r>
            <a:endParaRPr/>
          </a:p>
        </p:txBody>
      </p:sp>
      <p:pic>
        <p:nvPicPr>
          <p:cNvPr id="110" name="Google Shape;110;p20" title="スクリーンショット (29).png"/>
          <p:cNvPicPr preferRelativeResize="0"/>
          <p:nvPr/>
        </p:nvPicPr>
        <p:blipFill rotWithShape="1">
          <a:blip r:embed="rId3">
            <a:alphaModFix/>
          </a:blip>
          <a:srcRect b="15810" l="12726" r="33418" t="22553"/>
          <a:stretch/>
        </p:blipFill>
        <p:spPr>
          <a:xfrm>
            <a:off x="426925" y="1632450"/>
            <a:ext cx="4561152" cy="2936426"/>
          </a:xfrm>
          <a:prstGeom prst="rect">
            <a:avLst/>
          </a:prstGeom>
          <a:noFill/>
          <a:ln>
            <a:noFill/>
          </a:ln>
        </p:spPr>
      </p:pic>
      <p:sp>
        <p:nvSpPr>
          <p:cNvPr id="111" name="Google Shape;111;p20"/>
          <p:cNvSpPr/>
          <p:nvPr/>
        </p:nvSpPr>
        <p:spPr>
          <a:xfrm flipH="1" rot="10800000">
            <a:off x="1068900" y="1648125"/>
            <a:ext cx="3841200" cy="6870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112" name="Google Shape;112;p20"/>
          <p:cNvSpPr/>
          <p:nvPr/>
        </p:nvSpPr>
        <p:spPr>
          <a:xfrm flipH="1" rot="10800000">
            <a:off x="1611675" y="2757297"/>
            <a:ext cx="3329700" cy="18732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113" name="Google Shape;113;p20"/>
          <p:cNvSpPr/>
          <p:nvPr/>
        </p:nvSpPr>
        <p:spPr>
          <a:xfrm flipH="1" rot="10800000">
            <a:off x="5546598" y="4189636"/>
            <a:ext cx="550200" cy="2847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残業報告</a:t>
            </a:r>
            <a:endParaRPr/>
          </a:p>
        </p:txBody>
      </p:sp>
      <p:sp>
        <p:nvSpPr>
          <p:cNvPr id="119" name="Google Shape;119;p21"/>
          <p:cNvSpPr txBox="1"/>
          <p:nvPr>
            <p:ph idx="1" type="body"/>
          </p:nvPr>
        </p:nvSpPr>
        <p:spPr>
          <a:xfrm>
            <a:off x="4910125" y="1228675"/>
            <a:ext cx="39222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ja"/>
              <a:t>作成したファイルを名前を付けて保存。名前は、残業報告書_xxxxxxx_yyyyの様式にすること。そうしないと後の送信で通らないので注意。</a:t>
            </a:r>
            <a:endParaRPr/>
          </a:p>
        </p:txBody>
      </p:sp>
      <p:pic>
        <p:nvPicPr>
          <p:cNvPr id="120" name="Google Shape;120;p21" title="スクリーンショット (30).png"/>
          <p:cNvPicPr preferRelativeResize="0"/>
          <p:nvPr/>
        </p:nvPicPr>
        <p:blipFill rotWithShape="1">
          <a:blip r:embed="rId3">
            <a:alphaModFix/>
          </a:blip>
          <a:srcRect b="16707" l="19873" r="26634" t="26078"/>
          <a:stretch/>
        </p:blipFill>
        <p:spPr>
          <a:xfrm>
            <a:off x="311700" y="1591350"/>
            <a:ext cx="4346299" cy="2614858"/>
          </a:xfrm>
          <a:prstGeom prst="rect">
            <a:avLst/>
          </a:prstGeom>
          <a:noFill/>
          <a:ln>
            <a:noFill/>
          </a:ln>
        </p:spPr>
      </p:pic>
      <p:sp>
        <p:nvSpPr>
          <p:cNvPr id="121" name="Google Shape;121;p21"/>
          <p:cNvSpPr/>
          <p:nvPr/>
        </p:nvSpPr>
        <p:spPr>
          <a:xfrm flipH="1" rot="10800000">
            <a:off x="522398" y="3662328"/>
            <a:ext cx="1140000" cy="2655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残業報告</a:t>
            </a:r>
            <a:endParaRPr/>
          </a:p>
          <a:p>
            <a:pPr indent="0" lvl="0" marL="0" rtl="0" algn="l">
              <a:spcBef>
                <a:spcPts val="0"/>
              </a:spcBef>
              <a:spcAft>
                <a:spcPts val="0"/>
              </a:spcAft>
              <a:buNone/>
            </a:pPr>
            <a:r>
              <a:t/>
            </a:r>
            <a:endParaRPr/>
          </a:p>
        </p:txBody>
      </p:sp>
      <p:sp>
        <p:nvSpPr>
          <p:cNvPr id="127" name="Google Shape;127;p22"/>
          <p:cNvSpPr txBox="1"/>
          <p:nvPr>
            <p:ph idx="1" type="body"/>
          </p:nvPr>
        </p:nvSpPr>
        <p:spPr>
          <a:xfrm>
            <a:off x="4832050" y="1228675"/>
            <a:ext cx="40002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　残業申請のページに戻り、ファイルを選択で作成したファイルを選択。</a:t>
            </a:r>
            <a:endParaRPr/>
          </a:p>
          <a:p>
            <a:pPr indent="0" lvl="0" marL="0" rtl="0" algn="l">
              <a:spcBef>
                <a:spcPts val="1200"/>
              </a:spcBef>
              <a:spcAft>
                <a:spcPts val="1200"/>
              </a:spcAft>
              <a:buNone/>
            </a:pPr>
            <a:r>
              <a:rPr lang="ja"/>
              <a:t>　その後、送信を押す。</a:t>
            </a:r>
            <a:endParaRPr/>
          </a:p>
        </p:txBody>
      </p:sp>
      <p:pic>
        <p:nvPicPr>
          <p:cNvPr id="128" name="Google Shape;128;p22" title="スクリーンショット (31).png"/>
          <p:cNvPicPr preferRelativeResize="0"/>
          <p:nvPr/>
        </p:nvPicPr>
        <p:blipFill rotWithShape="1">
          <a:blip r:embed="rId3">
            <a:alphaModFix/>
          </a:blip>
          <a:srcRect b="4510" l="31623" r="38715" t="20069"/>
          <a:stretch/>
        </p:blipFill>
        <p:spPr>
          <a:xfrm>
            <a:off x="662925" y="1093850"/>
            <a:ext cx="2748202" cy="3930601"/>
          </a:xfrm>
          <a:prstGeom prst="rect">
            <a:avLst/>
          </a:prstGeom>
          <a:noFill/>
          <a:ln>
            <a:noFill/>
          </a:ln>
        </p:spPr>
      </p:pic>
      <p:sp>
        <p:nvSpPr>
          <p:cNvPr id="129" name="Google Shape;129;p22"/>
          <p:cNvSpPr/>
          <p:nvPr/>
        </p:nvSpPr>
        <p:spPr>
          <a:xfrm flipH="1" rot="10800000">
            <a:off x="662925" y="4411825"/>
            <a:ext cx="890100" cy="2499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130" name="Google Shape;130;p22"/>
          <p:cNvSpPr/>
          <p:nvPr/>
        </p:nvSpPr>
        <p:spPr>
          <a:xfrm flipH="1" rot="10800000">
            <a:off x="2189425" y="4411825"/>
            <a:ext cx="503400" cy="2499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残業申請管理_次長</a:t>
            </a:r>
            <a:endParaRPr/>
          </a:p>
        </p:txBody>
      </p:sp>
      <p:sp>
        <p:nvSpPr>
          <p:cNvPr id="136" name="Google Shape;136;p23"/>
          <p:cNvSpPr txBox="1"/>
          <p:nvPr>
            <p:ph idx="1" type="body"/>
          </p:nvPr>
        </p:nvSpPr>
        <p:spPr>
          <a:xfrm>
            <a:off x="4707150" y="1228675"/>
            <a:ext cx="4125000" cy="391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　次長が、社員の残業申請を管理する画面。</a:t>
            </a:r>
            <a:endParaRPr/>
          </a:p>
          <a:p>
            <a:pPr indent="0" lvl="0" marL="0" rtl="0" algn="l">
              <a:spcBef>
                <a:spcPts val="1200"/>
              </a:spcBef>
              <a:spcAft>
                <a:spcPts val="0"/>
              </a:spcAft>
              <a:buNone/>
            </a:pPr>
            <a:r>
              <a:rPr lang="ja"/>
              <a:t>　残業申請の報告で課長に報告する。</a:t>
            </a:r>
            <a:endParaRPr/>
          </a:p>
          <a:p>
            <a:pPr indent="0" lvl="0" marL="0" rtl="0" algn="l">
              <a:spcBef>
                <a:spcPts val="1200"/>
              </a:spcBef>
              <a:spcAft>
                <a:spcPts val="0"/>
              </a:spcAft>
              <a:buNone/>
            </a:pPr>
            <a:r>
              <a:rPr lang="ja"/>
              <a:t>　残業報告書のzipファイル作成で、報告書をまとめたzipファイルを作成する。</a:t>
            </a:r>
            <a:endParaRPr/>
          </a:p>
          <a:p>
            <a:pPr indent="0" lvl="0" marL="0" rtl="0" algn="l">
              <a:spcBef>
                <a:spcPts val="1200"/>
              </a:spcBef>
              <a:spcAft>
                <a:spcPts val="1200"/>
              </a:spcAft>
              <a:buNone/>
            </a:pPr>
            <a:r>
              <a:rPr lang="ja"/>
              <a:t>　自身の残業申請へボタンで社員と同様の申請が可能。</a:t>
            </a:r>
            <a:endParaRPr/>
          </a:p>
        </p:txBody>
      </p:sp>
      <p:pic>
        <p:nvPicPr>
          <p:cNvPr id="137" name="Google Shape;137;p23" title="スクリーンショット (32).png"/>
          <p:cNvPicPr preferRelativeResize="0"/>
          <p:nvPr/>
        </p:nvPicPr>
        <p:blipFill rotWithShape="1">
          <a:blip r:embed="rId3">
            <a:alphaModFix/>
          </a:blip>
          <a:srcRect b="40269" l="30748" r="27751" t="14332"/>
          <a:stretch/>
        </p:blipFill>
        <p:spPr>
          <a:xfrm>
            <a:off x="311700" y="1629563"/>
            <a:ext cx="4125000" cy="253843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残業申請管理_次長</a:t>
            </a:r>
            <a:endParaRPr/>
          </a:p>
        </p:txBody>
      </p:sp>
      <p:sp>
        <p:nvSpPr>
          <p:cNvPr id="143" name="Google Shape;143;p24"/>
          <p:cNvSpPr txBox="1"/>
          <p:nvPr>
            <p:ph idx="1" type="body"/>
          </p:nvPr>
        </p:nvSpPr>
        <p:spPr>
          <a:xfrm>
            <a:off x="4457300" y="1228675"/>
            <a:ext cx="43749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ja"/>
              <a:t>　課長に残業が申請が決済された場合（後述）、残業申請書のpdfファイル作成が押せるようになるので、押すと、pdfファイルがダウンロードされる。</a:t>
            </a:r>
            <a:endParaRPr/>
          </a:p>
        </p:txBody>
      </p:sp>
      <p:pic>
        <p:nvPicPr>
          <p:cNvPr id="144" name="Google Shape;144;p24" title="スクリーンショット (34).png"/>
          <p:cNvPicPr preferRelativeResize="0"/>
          <p:nvPr/>
        </p:nvPicPr>
        <p:blipFill rotWithShape="1">
          <a:blip r:embed="rId3">
            <a:alphaModFix/>
          </a:blip>
          <a:srcRect b="43253" l="29968" r="34309" t="13193"/>
          <a:stretch/>
        </p:blipFill>
        <p:spPr>
          <a:xfrm>
            <a:off x="241300" y="1408450"/>
            <a:ext cx="4083202" cy="2800424"/>
          </a:xfrm>
          <a:prstGeom prst="rect">
            <a:avLst/>
          </a:prstGeom>
          <a:noFill/>
          <a:ln>
            <a:noFill/>
          </a:ln>
        </p:spPr>
      </p:pic>
      <p:sp>
        <p:nvSpPr>
          <p:cNvPr id="145" name="Google Shape;145;p24"/>
          <p:cNvSpPr/>
          <p:nvPr/>
        </p:nvSpPr>
        <p:spPr>
          <a:xfrm flipH="1" rot="10800000">
            <a:off x="2052650" y="2959650"/>
            <a:ext cx="1561500" cy="2655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残業申請管理＿課長</a:t>
            </a:r>
            <a:endParaRPr/>
          </a:p>
        </p:txBody>
      </p:sp>
      <p:sp>
        <p:nvSpPr>
          <p:cNvPr id="151" name="Google Shape;151;p25"/>
          <p:cNvSpPr txBox="1"/>
          <p:nvPr>
            <p:ph idx="1" type="body"/>
          </p:nvPr>
        </p:nvSpPr>
        <p:spPr>
          <a:xfrm>
            <a:off x="5269275" y="1228675"/>
            <a:ext cx="35631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　次長が報告した残業申請の一覧が表示される。</a:t>
            </a:r>
            <a:endParaRPr/>
          </a:p>
          <a:p>
            <a:pPr indent="0" lvl="0" marL="0" rtl="0" algn="l">
              <a:spcBef>
                <a:spcPts val="1200"/>
              </a:spcBef>
              <a:spcAft>
                <a:spcPts val="1200"/>
              </a:spcAft>
              <a:buNone/>
            </a:pPr>
            <a:r>
              <a:rPr lang="ja"/>
              <a:t>　決済ボタンを押すと、承認。差し戻しボタンを押すと、スタッフに報告しながら、却下できる。</a:t>
            </a:r>
            <a:endParaRPr/>
          </a:p>
        </p:txBody>
      </p:sp>
      <p:pic>
        <p:nvPicPr>
          <p:cNvPr id="152" name="Google Shape;152;p25" title="スクリーンショット (33).png"/>
          <p:cNvPicPr preferRelativeResize="0"/>
          <p:nvPr/>
        </p:nvPicPr>
        <p:blipFill rotWithShape="1">
          <a:blip r:embed="rId3">
            <a:alphaModFix/>
          </a:blip>
          <a:srcRect b="48482" l="14572" r="13398" t="13798"/>
          <a:stretch/>
        </p:blipFill>
        <p:spPr>
          <a:xfrm>
            <a:off x="0" y="1554375"/>
            <a:ext cx="5086277" cy="18269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残業申請管理＿部長</a:t>
            </a:r>
            <a:endParaRPr/>
          </a:p>
          <a:p>
            <a:pPr indent="0" lvl="0" marL="0" rtl="0" algn="l">
              <a:spcBef>
                <a:spcPts val="0"/>
              </a:spcBef>
              <a:spcAft>
                <a:spcPts val="0"/>
              </a:spcAft>
              <a:buNone/>
            </a:pPr>
            <a:r>
              <a:t/>
            </a:r>
            <a:endParaRPr/>
          </a:p>
        </p:txBody>
      </p:sp>
      <p:sp>
        <p:nvSpPr>
          <p:cNvPr id="158" name="Google Shape;158;p26"/>
          <p:cNvSpPr txBox="1"/>
          <p:nvPr>
            <p:ph idx="1" type="body"/>
          </p:nvPr>
        </p:nvSpPr>
        <p:spPr>
          <a:xfrm>
            <a:off x="5066275" y="1228675"/>
            <a:ext cx="37659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　基本的に課長と部長を併せた物。</a:t>
            </a:r>
            <a:endParaRPr/>
          </a:p>
          <a:p>
            <a:pPr indent="0" lvl="0" marL="0" rtl="0" algn="l">
              <a:spcBef>
                <a:spcPts val="1200"/>
              </a:spcBef>
              <a:spcAft>
                <a:spcPts val="1200"/>
              </a:spcAft>
              <a:buNone/>
            </a:pPr>
            <a:r>
              <a:rPr lang="ja"/>
              <a:t>　課長の残業のみ管理する。</a:t>
            </a:r>
            <a:endParaRPr/>
          </a:p>
        </p:txBody>
      </p:sp>
      <p:pic>
        <p:nvPicPr>
          <p:cNvPr id="159" name="Google Shape;159;p26" title="スクリーンショット (35).png"/>
          <p:cNvPicPr preferRelativeResize="0"/>
          <p:nvPr/>
        </p:nvPicPr>
        <p:blipFill rotWithShape="1">
          <a:blip r:embed="rId3">
            <a:alphaModFix/>
          </a:blip>
          <a:srcRect b="45441" l="16285" r="17084" t="15790"/>
          <a:stretch/>
        </p:blipFill>
        <p:spPr>
          <a:xfrm>
            <a:off x="0" y="1476325"/>
            <a:ext cx="5152877" cy="168637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